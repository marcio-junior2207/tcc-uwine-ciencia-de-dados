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6858000" cx="12192000"/>
  <p:notesSz cx="6858000" cy="12192000"/>
  <p:embeddedFontLst>
    <p:embeddedFont>
      <p:font typeface="Fraunces"/>
      <p:regular r:id="rId19"/>
      <p:bold r:id="rId20"/>
      <p:italic r:id="rId21"/>
      <p:boldItalic r:id="rId22"/>
    </p:embeddedFont>
    <p:embeddedFont>
      <p:font typeface="DM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05D1363-8ED7-4B27-8D4A-4F9ED3E57FFD}">
  <a:tblStyle styleId="{F05D1363-8ED7-4B27-8D4A-4F9ED3E57FFD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Fraunces-bold.fntdata"/><Relationship Id="rId22" Type="http://schemas.openxmlformats.org/officeDocument/2006/relationships/font" Target="fonts/Fraunces-boldItalic.fntdata"/><Relationship Id="rId21" Type="http://schemas.openxmlformats.org/officeDocument/2006/relationships/font" Target="fonts/Fraunces-italic.fntdata"/><Relationship Id="rId24" Type="http://schemas.openxmlformats.org/officeDocument/2006/relationships/font" Target="fonts/DMSans-bold.fntdata"/><Relationship Id="rId23" Type="http://schemas.openxmlformats.org/officeDocument/2006/relationships/font" Target="fonts/DMSans-regular.fntdata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DMSans-boldItalic.fntdata"/><Relationship Id="rId25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Fraunces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Olá! Eu sou [seu nome] e neste vídeo apresento a Parte 1 do projeto UWine, o clube de vinhos fictício da UVV. A pergunta que guiou todo o trabalho é simples: de uma base com mais de um milhão de notas fiscais, quantos dados bastam para eu confiar nas conclusões? Vou mostrar o caminho completo, incluindo as dúvidas que tive no meio.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 ponto de partida é uma base com 1 milhão e 120 mil notas fiscais, 23 variáveis e cerca de 5 mil notas novas entrando por dia. São variáveis demográficas, financeiras, de satisfação e até o perfil químico do vinho. Antes de qualquer modelo de Machine Learning, que fica para a Parte 2, a base precisa ser auditada. Por isso o objetivo da Parte 1 é definir o tamanho ideal da amostra, sem viés e com confiança comprovada.</a:t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Esse é o mapa do trabalho, em seis etapas: carga e checagem da base, tamanho da amostra, outliers, testes de hipótese, estatística descritiva e pesquisa de satisfação. O coração deste vídeo é a segunda etapa, porque é nela que eu decido quanto dado usar, e todo o resto se apoia nessa decisão. As outras etapas eu passo mais rápido.</a:t>
            </a:r>
            <a:endParaRPr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Antes de calcular qualquer amostra, separei a base pelos três tipos de conta, porque eles se comportam de jeitos muito diferentes. O ESSENTIAL é 59,5% da base e gasta em média 416 reais por nota, com desvio-padrão de 329. O VIP é 23,4%, gasta 919 reais, com desvio de 476. O PRIME é 17,1%, gasta 2.156 reais, com desvio de 1.061, mais de três vezes o do ESSENTIAL. Misturar os três esconderia essa diferença.</a:t>
            </a:r>
            <a:endParaRPr/>
          </a:p>
        </p:txBody>
      </p:sp>
      <p:sp>
        <p:nvSpPr>
          <p:cNvPr id="80" name="Google Shape;80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8" name="Google Shape;108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Rodei as duas funções que o professor passou. A empírica, calculada por grupo, deu 14.200 para o ESSENTIAL, 18.100 para o VIP, 30.700 para o PRIME e 26.400 para a base geral. A teórico-empírica, com alocação de Neyman, deu 5.300 no total, divididos entre os três grupos. E eu fiquei inseguro: 5.300 observações, numa base de 1,12 milhão, parece pouco demais. Em vez de aceitar o número, resolvi investigar por que ele saiu assim.</a:t>
            </a:r>
            <a:endParaRPr/>
          </a:p>
        </p:txBody>
      </p:sp>
      <p:sp>
        <p:nvSpPr>
          <p:cNvPr id="109" name="Google Shape;109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9" name="Google Shape;12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Descobri uma coisa importante. O erro-padrão cai como sigma dividido pela raiz de n. Por isso os grupos mais dispersos têm curvas mais altas, mas todas têm a mesma forma. O critério da função teórico-empírica para quando a queda relativa do erro fica abaixo de 1%, e essa queda relativa só depende de n, nunca de sigma. Resultado: todos os grupos, qualquer que seja a variabilidade, param exatamente em 5.300. O critério não enxerga os dados. Eu precisava de outra régua.</a:t>
            </a:r>
            <a:endParaRPr/>
          </a:p>
        </p:txBody>
      </p:sp>
      <p:sp>
        <p:nvSpPr>
          <p:cNvPr id="130" name="Google Shape;13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nova régua foi o bootstrap de verdade. Para cada grupo, testei vários tamanhos de amostra: sorteio com reposição, trezentas vezes, calculo a média de cada sorteio e meço a margem do intervalo de confiança de 95%. Defini como meta uma margem de no máximo 1% da média. O menor n que atinge isso foi 10 mil para o VIP, 15 mil para o PRIME, 25 mil para o ESSENTIAL e 40 mil para a base geral, sem separar por tipo de conta. Adotei 40 mil para todos, o cenário mais exigente, assim nenhum grupo fica com precisão pior que 1%.</a:t>
            </a:r>
            <a:endParaRPr/>
          </a:p>
        </p:txBody>
      </p:sp>
      <p:sp>
        <p:nvSpPr>
          <p:cNvPr id="161" name="Google Shape;16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Mas escolher não é provar. Como tenho a base inteira, eu conheço a média verdadeira de cada grupo, e isso me permite testar de verdade. Três checagens, com n igual a 40 mil. Primeiro, viés: a média estimada pela amostra errou a média real por menos de 0,02% em todos os grupos. Segundo, precisão: a margem do intervalo ficou entre 0,48% e 1%. Terceiro, cobertura: em mil amostras independentes, o intervalo de 95% continha a média real em 95% a 97% das vezes, exatamente o esperado. Ou seja, 40 mil por grupo é uma amostra sem viés, precisa e confiável.</a:t>
            </a:r>
            <a:endParaRPr/>
          </a:p>
        </p:txBody>
      </p:sp>
      <p:sp>
        <p:nvSpPr>
          <p:cNvPr id="192" name="Google Shape;192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Sobre outliers, usei o método do intervalo interquartil, sempre separado por tipo de conta. No ESSENTIAL são 3,7%, no VIP 2,7%, e no PRIME praticamente nenhum, só 2 notas. Se eu olhasse a base inteira sem separar, o número subiria para quase 10%, porque gastos normais de clientes PRIME pareceriam estranhos perto da maioria ESSENTIAL. Decidi manter todos: são gastos reais de clientes de alto consumo, não erros de coleta, e removê-los distorceria o perfil de cada grupo.</a:t>
            </a:r>
            <a:endParaRPr/>
          </a:p>
        </p:txBody>
      </p:sp>
      <p:sp>
        <p:nvSpPr>
          <p:cNvPr id="214" name="Google Shape;21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0" name="Google Shape;2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Nos testes de hipótese, comparei ESSENTIAL e PRIME, os dois extremos, com amostras de 40 mil de cada. Quatro perguntas. Normalidade, pelo Anderson-Darling: nenhuma das duas é normal, em nenhum nível de confiança. Independência: Pearson, Spearman e Kendall com p entre 0,45 e 0,77, e o intervalo bootstrap da correlação inclui o zero, então são independentes. Distribuição: os quatro testes rejeitam com p praticamente zero, e o melhor ajuste é o Kruskal-Wallis, porque não exige normalidade. Médias: 416 contra 2.155 reais, e os intervalos de confiança nem se encostam.</a:t>
            </a:r>
            <a:endParaRPr/>
          </a:p>
        </p:txBody>
      </p:sp>
      <p:sp>
        <p:nvSpPr>
          <p:cNvPr id="241" name="Google Shape;2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5" name="Google Shape;265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 estatística descritiva, esta matriz resume os três grupos. A renda mediana vai de 3.257 reais no ESSENTIAL a 20.905 no PRIME, e o gasto mediano de 370 a 2.086. O coeficiente de variação mostra que o ESSENTIAL é o mais irregular em termos relativos, e a assimetria do gasto é 4,74 no ESSENTIAL contra 0,21 no PRIME, quase simétrico. Nas variáveis qualitativas aparece o padrão 80/20: 67% dos clientes são do Sudeste, 87% são homens e 55% são casados. Isso é importante para a Parte 2, porque são classes desbalanceadas.</a:t>
            </a:r>
            <a:endParaRPr/>
          </a:p>
        </p:txBody>
      </p:sp>
      <p:sp>
        <p:nvSpPr>
          <p:cNvPr id="266" name="Google Shape;266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1" name="Google Shape;281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a satisfação, a coluna numérica original não servia: ela vale 68,68 em quase todos os registros e não acompanha o texto. Então discretizei as 25 opiniões em cinco notas, agrupando as frases pelo tom: cinco frases por nota. O critério é uma decisão minha e está explícito aqui. O resultado: 77% satisfeitos, 15% indiferentes, 4% insatisfeitos, 3% muito satisfeitos e 1% muito insatisfeitos. A nota média é 3,77, com intervalo de confiança entre 3,76 e 3,78, e não há diferença por sexo.</a:t>
            </a:r>
            <a:endParaRPr/>
          </a:p>
        </p:txBody>
      </p:sp>
      <p:sp>
        <p:nvSpPr>
          <p:cNvPr id="282" name="Google Shape;282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5" name="Google Shape;32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fechar: a Parte 1 deixa uma base auditada e uma amostra de 40 mil por tipo de conta, validada contra a população inteira. ESSENTIAL e PRIME são perfis estatisticamente distintos, os outliers foram analisados e mantidos, e a satisfação é majoritariamente positiva e igual por sexo. Para a Parte 2, três alertas: os dados não são normais, as classes são desbalanceadas, e o perfil químico do vinho tem ruído sintético, com valores impossíveis como prolina negativa. O código completo está no GitHub: [link do GitHub]. Obrigado!</a:t>
            </a:r>
            <a:endParaRPr/>
          </a:p>
        </p:txBody>
      </p:sp>
      <p:sp>
        <p:nvSpPr>
          <p:cNvPr id="326" name="Google Shape;32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72B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812800" y="812800"/>
            <a:ext cx="606958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A9C27A"/>
                </a:solidFill>
                <a:latin typeface="DM Sans"/>
                <a:ea typeface="DM Sans"/>
                <a:cs typeface="DM Sans"/>
                <a:sym typeface="DM Sans"/>
              </a:rPr>
              <a:t>UWINE · CLUBE DE VINHOS UVV (CENÁRIO FICTÍCIO)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812800" y="2075259"/>
            <a:ext cx="6069584" cy="16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4999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6000"/>
              <a:buFont typeface="Fraunces"/>
              <a:buNone/>
            </a:pPr>
            <a:r>
              <a:rPr b="1" i="0" lang="en-US" sz="60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Quantos dados bastam?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/>
          <p:nvPr/>
        </p:nvSpPr>
        <p:spPr>
          <a:xfrm>
            <a:off x="812800" y="3878659"/>
            <a:ext cx="6069584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Amostragem estratificada e auditoria estatística da base de notas fiscais · Parte 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3"/>
          <p:cNvSpPr/>
          <p:nvPr/>
        </p:nvSpPr>
        <p:spPr>
          <a:xfrm>
            <a:off x="812800" y="5496620"/>
            <a:ext cx="606958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1" lang="en-US" sz="1600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Marcio Ferreira dos Santos Junior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812800" y="5831880"/>
            <a:ext cx="606958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Consultor em Ciência de Dados · Universidade Vila Velha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rade de 400 pontos. Cada ponto representa cerca de 2.800 notas fiscais. 43 pontos em verde representam a amostra." id="21" name="Google Shape;2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0" y="1000820"/>
            <a:ext cx="4064000" cy="4064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3"/>
          <p:cNvSpPr/>
          <p:nvPr/>
        </p:nvSpPr>
        <p:spPr>
          <a:xfrm>
            <a:off x="7315200" y="5217220"/>
            <a:ext cx="4185920" cy="66536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Cada ponto equivale a cerca de 2.800 notas fiscais. Em verde, as 120 mil que formam a amostra: 3 grupos × 40.000.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"/>
          <p:cNvSpPr/>
          <p:nvPr/>
        </p:nvSpPr>
        <p:spPr>
          <a:xfrm>
            <a:off x="812800" y="812800"/>
            <a:ext cx="45783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O DESAFIO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812800" y="1102320"/>
            <a:ext cx="4578350" cy="10310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Do volume bruto a uma base confiável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812800" y="2801640"/>
            <a:ext cx="4578350" cy="116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Antes de qualquer modelo de Machine Learning, a base precisa ser auditada. A pergunta: quanta amostra basta para ser fiel à população?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812800" y="4633020"/>
            <a:ext cx="4445000" cy="1208980"/>
          </a:xfrm>
          <a:prstGeom prst="roundRect">
            <a:avLst>
              <a:gd fmla="val 6303" name="adj"/>
            </a:avLst>
          </a:prstGeom>
          <a:solidFill>
            <a:srgbClr val="FBF9F3"/>
          </a:solidFill>
          <a:ln>
            <a:noFill/>
          </a:ln>
        </p:spPr>
        <p:txBody>
          <a:bodyPr anchorCtr="0" anchor="t" bIns="130075" lIns="231675" spcFirstLastPara="1" rIns="61225" wrap="square" tIns="1554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Objetivo da Parte 1: definir o tamanho ideal da amostra, sem viés e com confiança comprovada.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812800" y="4633020"/>
            <a:ext cx="4445000" cy="1208980"/>
          </a:xfrm>
          <a:custGeom>
            <a:rect b="b" l="l" r="r" t="t"/>
            <a:pathLst>
              <a:path extrusionOk="0" h="1208980" w="4445000">
                <a:moveTo>
                  <a:pt x="76200" y="1208980"/>
                </a:moveTo>
                <a:lnTo>
                  <a:pt x="76200" y="1208980"/>
                </a:lnTo>
                <a:cubicBezTo>
                  <a:pt x="34116" y="1208980"/>
                  <a:pt x="0" y="1174864"/>
                  <a:pt x="0" y="113278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1132780"/>
                </a:lnTo>
                <a:cubicBezTo>
                  <a:pt x="50800" y="1152989"/>
                  <a:pt x="53476" y="1172371"/>
                  <a:pt x="58239" y="1186662"/>
                </a:cubicBezTo>
                <a:cubicBezTo>
                  <a:pt x="63003" y="1200952"/>
                  <a:pt x="69464" y="1208980"/>
                  <a:pt x="76200" y="1208980"/>
                </a:cubicBezTo>
                <a:close/>
              </a:path>
            </a:pathLst>
          </a:custGeom>
          <a:solidFill>
            <a:srgbClr val="5C7C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3" name="Google Shape;33;p4"/>
          <p:cNvCxnSpPr/>
          <p:nvPr/>
        </p:nvCxnSpPr>
        <p:spPr>
          <a:xfrm>
            <a:off x="5867400" y="2480965"/>
            <a:ext cx="5511800" cy="0"/>
          </a:xfrm>
          <a:prstGeom prst="straightConnector1">
            <a:avLst/>
          </a:prstGeom>
          <a:noFill/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4" name="Google Shape;34;p4"/>
          <p:cNvSpPr/>
          <p:nvPr/>
        </p:nvSpPr>
        <p:spPr>
          <a:xfrm>
            <a:off x="5867400" y="1228130"/>
            <a:ext cx="5677154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6000"/>
              <a:buFont typeface="Fraunces"/>
              <a:buNone/>
            </a:pPr>
            <a:r>
              <a:rPr b="1" i="0" lang="en-US" sz="60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1.120.000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867400" y="2040930"/>
            <a:ext cx="567715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notas fiscais na base histórica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6" name="Google Shape;36;p4"/>
          <p:cNvCxnSpPr/>
          <p:nvPr/>
        </p:nvCxnSpPr>
        <p:spPr>
          <a:xfrm>
            <a:off x="5867400" y="4173835"/>
            <a:ext cx="5511800" cy="0"/>
          </a:xfrm>
          <a:prstGeom prst="straightConnector1">
            <a:avLst/>
          </a:prstGeom>
          <a:noFill/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"/>
          <p:cNvSpPr/>
          <p:nvPr/>
        </p:nvSpPr>
        <p:spPr>
          <a:xfrm>
            <a:off x="5867400" y="2636540"/>
            <a:ext cx="5677154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6000"/>
              <a:buFont typeface="Fraunces"/>
              <a:buNone/>
            </a:pPr>
            <a:r>
              <a:rPr b="1" i="0" lang="en-US" sz="60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23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5867400" y="3449340"/>
            <a:ext cx="5677154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variáveis: demográficas, financeiras, de satisfação e do perfil químico do vinho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5867400" y="4329410"/>
            <a:ext cx="5677154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6000"/>
              <a:buFont typeface="Fraunces"/>
              <a:buNone/>
            </a:pPr>
            <a:r>
              <a:rPr b="1" i="0" lang="en-US" sz="60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+5.000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867400" y="5142210"/>
            <a:ext cx="567715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novas notas fiscais entram por dia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2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O CAMINHO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Seis etapas, da base crua à conclusão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815975" y="1862336"/>
            <a:ext cx="3414117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5"/>
          <p:cNvSpPr/>
          <p:nvPr/>
        </p:nvSpPr>
        <p:spPr>
          <a:xfrm>
            <a:off x="1022350" y="2068711"/>
            <a:ext cx="309140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1022350" y="2602111"/>
            <a:ext cx="3091408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Carga da base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1022350" y="2962771"/>
            <a:ext cx="3091408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Leitura e checagem: 1,12 milhão de linhas e 23 colunas.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4388842" y="1862336"/>
            <a:ext cx="3414216" cy="1908870"/>
          </a:xfrm>
          <a:prstGeom prst="roundRect">
            <a:avLst>
              <a:gd fmla="val 5156" name="adj"/>
            </a:avLst>
          </a:prstGeom>
          <a:solidFill>
            <a:srgbClr val="23272B"/>
          </a:solidFill>
          <a:ln cap="flat" cmpd="sng" w="9525">
            <a:solidFill>
              <a:srgbClr val="23272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5"/>
          <p:cNvSpPr/>
          <p:nvPr/>
        </p:nvSpPr>
        <p:spPr>
          <a:xfrm>
            <a:off x="4595217" y="2068711"/>
            <a:ext cx="3091510" cy="4448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3318"/>
              <a:buFont typeface="Fraunces"/>
              <a:buNone/>
            </a:pPr>
            <a:r>
              <a:rPr b="1" i="0" lang="en-US" sz="3319" u="none" cap="none" strike="noStrike">
                <a:solidFill>
                  <a:srgbClr val="A9C27A"/>
                </a:solidFill>
                <a:latin typeface="Fraunces"/>
                <a:ea typeface="Fraunces"/>
                <a:cs typeface="Fraunces"/>
                <a:sym typeface="Fraunces"/>
              </a:rPr>
              <a:t>2</a:t>
            </a:r>
            <a:endParaRPr b="0" i="0" sz="331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4595217" y="2564408"/>
            <a:ext cx="3091510" cy="2863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480"/>
              <a:buFont typeface="DM Sans"/>
              <a:buNone/>
            </a:pPr>
            <a:r>
              <a:rPr b="1" i="0" lang="en-US" sz="148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Tamanho da amostra</a:t>
            </a:r>
            <a:endParaRPr b="0" i="0" sz="14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4595217" y="2901553"/>
            <a:ext cx="3091510" cy="4168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9946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114"/>
              <a:buFont typeface="DM Sans"/>
              <a:buNone/>
            </a:pPr>
            <a:r>
              <a:rPr b="0" i="0" lang="en-US" sz="1114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Quantas observações por tipo de conta bastam, e por quê.</a:t>
            </a:r>
            <a:endParaRPr b="0" i="0" sz="111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4595217" y="3369171"/>
            <a:ext cx="3091510" cy="22105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3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1121"/>
              <a:buFont typeface="DM Sans"/>
              <a:buNone/>
            </a:pPr>
            <a:r>
              <a:rPr b="1" i="0" lang="en-US" sz="1121" u="none" cap="none" strike="noStrike">
                <a:solidFill>
                  <a:srgbClr val="A9C27A"/>
                </a:solidFill>
                <a:latin typeface="DM Sans"/>
                <a:ea typeface="DM Sans"/>
                <a:cs typeface="DM Sans"/>
                <a:sym typeface="DM Sans"/>
              </a:rPr>
              <a:t>FOCO DESTE VÍDEO</a:t>
            </a:r>
            <a:endParaRPr b="0" i="0" sz="112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7961809" y="1862336"/>
            <a:ext cx="3414216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/>
          <p:nvPr/>
        </p:nvSpPr>
        <p:spPr>
          <a:xfrm>
            <a:off x="8168184" y="2068711"/>
            <a:ext cx="30915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8168184" y="2602111"/>
            <a:ext cx="309151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Outliers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8168184" y="2962771"/>
            <a:ext cx="309151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Método do intervalo interquartil, separado por grupo.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15975" y="3929955"/>
            <a:ext cx="3414117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5"/>
          <p:cNvSpPr/>
          <p:nvPr/>
        </p:nvSpPr>
        <p:spPr>
          <a:xfrm>
            <a:off x="1022350" y="4136330"/>
            <a:ext cx="309140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1022350" y="4669730"/>
            <a:ext cx="3091408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Testes de hipótese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1022350" y="5030391"/>
            <a:ext cx="3091408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ESSENTIAL × PRIME: normalidade, independência, distribuição e médias.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4388842" y="3929955"/>
            <a:ext cx="3414216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5"/>
          <p:cNvSpPr/>
          <p:nvPr/>
        </p:nvSpPr>
        <p:spPr>
          <a:xfrm>
            <a:off x="4595217" y="4136330"/>
            <a:ext cx="30915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4595217" y="4669730"/>
            <a:ext cx="309151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Estatística descritiva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4595217" y="5030391"/>
            <a:ext cx="3091510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Variáveis quantitativas e qualitativas (gráfico de Pareto).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7961809" y="3929955"/>
            <a:ext cx="3414216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5"/>
          <p:cNvSpPr/>
          <p:nvPr/>
        </p:nvSpPr>
        <p:spPr>
          <a:xfrm>
            <a:off x="8168184" y="4136330"/>
            <a:ext cx="309151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8168184" y="4669730"/>
            <a:ext cx="309151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Pesquisa de satisfação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8168184" y="5030391"/>
            <a:ext cx="309151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25 opiniões em 5 notas, com bootstrap.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3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6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POR QUE SEPARAR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6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Três perfis de consumo muito diferentes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/>
          <p:nvPr/>
        </p:nvSpPr>
        <p:spPr>
          <a:xfrm>
            <a:off x="815975" y="1862336"/>
            <a:ext cx="3380284" cy="2848769"/>
          </a:xfrm>
          <a:prstGeom prst="roundRect">
            <a:avLst>
              <a:gd fmla="val 3455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1022350" y="2068711"/>
            <a:ext cx="30565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ESSENTIAL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1022350" y="2403971"/>
            <a:ext cx="30565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59,5% da base · 666.669 notas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6"/>
          <p:cNvSpPr/>
          <p:nvPr/>
        </p:nvSpPr>
        <p:spPr>
          <a:xfrm>
            <a:off x="1022350" y="3048000"/>
            <a:ext cx="3056560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R$ 416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1022350" y="3576241"/>
            <a:ext cx="30565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gasto médio por nota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1022350" y="4220270"/>
            <a:ext cx="30565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Desvio-padrão: R$ 329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6"/>
          <p:cNvSpPr/>
          <p:nvPr/>
        </p:nvSpPr>
        <p:spPr>
          <a:xfrm>
            <a:off x="4405809" y="1862336"/>
            <a:ext cx="3380383" cy="2848769"/>
          </a:xfrm>
          <a:prstGeom prst="roundRect">
            <a:avLst>
              <a:gd fmla="val 3455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6"/>
          <p:cNvSpPr/>
          <p:nvPr/>
        </p:nvSpPr>
        <p:spPr>
          <a:xfrm>
            <a:off x="4612184" y="2068711"/>
            <a:ext cx="305666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VIP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6"/>
          <p:cNvSpPr/>
          <p:nvPr/>
        </p:nvSpPr>
        <p:spPr>
          <a:xfrm>
            <a:off x="4612184" y="2403971"/>
            <a:ext cx="305666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23,4% da base · 261.612 notas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4612184" y="3048000"/>
            <a:ext cx="305666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R$ 919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4612184" y="3576241"/>
            <a:ext cx="305666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gasto médio por nota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4612184" y="4220270"/>
            <a:ext cx="3056662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Desvio-padrão: R$ 476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995741" y="1862336"/>
            <a:ext cx="3380284" cy="2848769"/>
          </a:xfrm>
          <a:prstGeom prst="roundRect">
            <a:avLst>
              <a:gd fmla="val 3455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6"/>
          <p:cNvSpPr/>
          <p:nvPr/>
        </p:nvSpPr>
        <p:spPr>
          <a:xfrm>
            <a:off x="8202116" y="2068711"/>
            <a:ext cx="30565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PRIME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8202116" y="2403971"/>
            <a:ext cx="30565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17,1% da base · 191.719 notas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8202116" y="3048000"/>
            <a:ext cx="3056560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R$ 2.156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8202116" y="3576241"/>
            <a:ext cx="305656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gasto médio por nota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8202116" y="4220270"/>
            <a:ext cx="30565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Desvio-padrão: R$ 1.061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812800" y="4968280"/>
            <a:ext cx="10566400" cy="873720"/>
          </a:xfrm>
          <a:prstGeom prst="roundRect">
            <a:avLst>
              <a:gd fmla="val 8721" name="adj"/>
            </a:avLst>
          </a:prstGeom>
          <a:solidFill>
            <a:srgbClr val="ECE6D8"/>
          </a:solidFill>
          <a:ln>
            <a:noFill/>
          </a:ln>
        </p:spPr>
        <p:txBody>
          <a:bodyPr anchorCtr="0" anchor="t" bIns="104675" lIns="231675" spcFirstLastPara="1" rIns="0" wrap="square" tIns="130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Misturar os três grupos esconde essa diferença: o desvio-padrão do PRIME é mais de 3 vezes o do ESSENTIAL.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812800" y="4968280"/>
            <a:ext cx="10566400" cy="873720"/>
          </a:xfrm>
          <a:custGeom>
            <a:rect b="b" l="l" r="r" t="t"/>
            <a:pathLst>
              <a:path extrusionOk="0" h="873720" w="10566400">
                <a:moveTo>
                  <a:pt x="76200" y="873720"/>
                </a:moveTo>
                <a:lnTo>
                  <a:pt x="76200" y="873720"/>
                </a:lnTo>
                <a:cubicBezTo>
                  <a:pt x="34116" y="873720"/>
                  <a:pt x="0" y="839604"/>
                  <a:pt x="0" y="797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97520"/>
                </a:lnTo>
                <a:cubicBezTo>
                  <a:pt x="50800" y="817729"/>
                  <a:pt x="53476" y="837111"/>
                  <a:pt x="58239" y="851402"/>
                </a:cubicBezTo>
                <a:cubicBezTo>
                  <a:pt x="63003" y="865692"/>
                  <a:pt x="69464" y="873720"/>
                  <a:pt x="76200" y="873720"/>
                </a:cubicBezTo>
                <a:close/>
              </a:path>
            </a:pathLst>
          </a:custGeom>
          <a:solidFill>
            <a:srgbClr val="5C7C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6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4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7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A PRIMEIRA RESPOSTA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7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Números pequenos, e uma dúvida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7"/>
          <p:cNvSpPr/>
          <p:nvPr/>
        </p:nvSpPr>
        <p:spPr>
          <a:xfrm>
            <a:off x="815975" y="1862336"/>
            <a:ext cx="5175250" cy="2934196"/>
          </a:xfrm>
          <a:prstGeom prst="roundRect">
            <a:avLst>
              <a:gd fmla="val 3354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1073150" y="2119511"/>
            <a:ext cx="480072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Procedimento empírico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7"/>
          <p:cNvSpPr/>
          <p:nvPr/>
        </p:nvSpPr>
        <p:spPr>
          <a:xfrm>
            <a:off x="1073150" y="2480171"/>
            <a:ext cx="480072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Um grupo de cada vez · parâmetros padrão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16" name="Google Shape;116;p7"/>
          <p:cNvGraphicFramePr/>
          <p:nvPr/>
        </p:nvGraphicFramePr>
        <p:xfrm>
          <a:off x="1085850" y="278239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{F05D1363-8ED7-4B27-8D4A-4F9ED3E57FFD}</a:tableStyleId>
              </a:tblPr>
              <a:tblGrid>
                <a:gridCol w="2796550"/>
                <a:gridCol w="1864350"/>
              </a:tblGrid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ESSENTIAL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14.200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VIP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18.100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PRIME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30.700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GERAL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26.400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</a:tr>
            </a:tbl>
          </a:graphicData>
        </a:graphic>
      </p:graphicFrame>
      <p:sp>
        <p:nvSpPr>
          <p:cNvPr id="117" name="Google Shape;117;p7"/>
          <p:cNvSpPr/>
          <p:nvPr/>
        </p:nvSpPr>
        <p:spPr>
          <a:xfrm>
            <a:off x="6200775" y="1862336"/>
            <a:ext cx="5175250" cy="2934196"/>
          </a:xfrm>
          <a:prstGeom prst="roundRect">
            <a:avLst>
              <a:gd fmla="val 3354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6457950" y="2119511"/>
            <a:ext cx="480072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Procedimento teórico-empírico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7"/>
          <p:cNvSpPr/>
          <p:nvPr/>
        </p:nvSpPr>
        <p:spPr>
          <a:xfrm>
            <a:off x="6457950" y="2480171"/>
            <a:ext cx="480072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Alocação de Neyman · parâmetros padrão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7"/>
          <p:cNvSpPr/>
          <p:nvPr/>
        </p:nvSpPr>
        <p:spPr>
          <a:xfrm>
            <a:off x="6457950" y="2769691"/>
            <a:ext cx="4800727" cy="7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6000"/>
              <a:buFont typeface="Fraunces"/>
              <a:buNone/>
            </a:pPr>
            <a:r>
              <a:rPr b="1" i="0" lang="en-US" sz="60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5.300</a:t>
            </a:r>
            <a:endParaRPr b="0" i="0" sz="6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7"/>
          <p:cNvSpPr/>
          <p:nvPr/>
        </p:nvSpPr>
        <p:spPr>
          <a:xfrm>
            <a:off x="6457950" y="3607891"/>
            <a:ext cx="480072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no total, divididos entre os 3 grupos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7"/>
          <p:cNvSpPr/>
          <p:nvPr/>
        </p:nvSpPr>
        <p:spPr>
          <a:xfrm>
            <a:off x="6457950" y="3968552"/>
            <a:ext cx="480072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ESSENTIAL 2.123 · PRIME 1.970 · VIP 1.206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7"/>
          <p:cNvSpPr/>
          <p:nvPr/>
        </p:nvSpPr>
        <p:spPr>
          <a:xfrm>
            <a:off x="812800" y="5053707"/>
            <a:ext cx="10566400" cy="589260"/>
          </a:xfrm>
          <a:prstGeom prst="roundRect">
            <a:avLst>
              <a:gd fmla="val 12931" name="adj"/>
            </a:avLst>
          </a:prstGeom>
          <a:solidFill>
            <a:srgbClr val="F1E3E5"/>
          </a:solidFill>
          <a:ln>
            <a:noFill/>
          </a:ln>
        </p:spPr>
        <p:txBody>
          <a:bodyPr anchorCtr="0" anchor="t" bIns="104675" lIns="231675" spcFirstLastPara="1" rIns="0" wrap="square" tIns="130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A dúvida:</a:t>
            </a:r>
            <a:r>
              <a:rPr b="0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 5.300 observações para 1,12 milhão de notas parece pouco demais.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7"/>
          <p:cNvSpPr/>
          <p:nvPr/>
        </p:nvSpPr>
        <p:spPr>
          <a:xfrm>
            <a:off x="812800" y="5053707"/>
            <a:ext cx="10566400" cy="589260"/>
          </a:xfrm>
          <a:custGeom>
            <a:rect b="b" l="l" r="r" t="t"/>
            <a:pathLst>
              <a:path extrusionOk="0" h="589260" w="10566400">
                <a:moveTo>
                  <a:pt x="76200" y="589260"/>
                </a:moveTo>
                <a:lnTo>
                  <a:pt x="76200" y="589260"/>
                </a:lnTo>
                <a:cubicBezTo>
                  <a:pt x="34116" y="589260"/>
                  <a:pt x="0" y="555144"/>
                  <a:pt x="0" y="51306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513060"/>
                </a:lnTo>
                <a:cubicBezTo>
                  <a:pt x="50800" y="533269"/>
                  <a:pt x="53476" y="552651"/>
                  <a:pt x="58239" y="566942"/>
                </a:cubicBezTo>
                <a:cubicBezTo>
                  <a:pt x="63003" y="581232"/>
                  <a:pt x="69464" y="589260"/>
                  <a:pt x="76200" y="589260"/>
                </a:cubicBezTo>
                <a:close/>
              </a:path>
            </a:pathLst>
          </a:custGeom>
          <a:solidFill>
            <a:srgbClr val="8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5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72B"/>
        </a:solidFill>
      </p:bgPr>
    </p:bg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8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A9C27A"/>
                </a:solidFill>
                <a:latin typeface="DM Sans"/>
                <a:ea typeface="DM Sans"/>
                <a:cs typeface="DM Sans"/>
                <a:sym typeface="DM Sans"/>
              </a:rPr>
              <a:t>A DESCOBERTA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8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O critério que não olhava os dados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8"/>
          <p:cNvSpPr/>
          <p:nvPr/>
        </p:nvSpPr>
        <p:spPr>
          <a:xfrm>
            <a:off x="812800" y="1940421"/>
            <a:ext cx="254000" cy="50800"/>
          </a:xfrm>
          <a:prstGeom prst="roundRect">
            <a:avLst>
              <a:gd fmla="val 50000" name="adj"/>
            </a:avLst>
          </a:prstGeom>
          <a:solidFill>
            <a:srgbClr val="8FA5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"/>
          <p:cNvSpPr/>
          <p:nvPr/>
        </p:nvSpPr>
        <p:spPr>
          <a:xfrm>
            <a:off x="1143000" y="1859161"/>
            <a:ext cx="154513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ESSENTIAL · σ R$ 329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8"/>
          <p:cNvSpPr/>
          <p:nvPr/>
        </p:nvSpPr>
        <p:spPr>
          <a:xfrm>
            <a:off x="2637334" y="1940421"/>
            <a:ext cx="254000" cy="50800"/>
          </a:xfrm>
          <a:prstGeom prst="roundRect">
            <a:avLst>
              <a:gd fmla="val 50000" name="adj"/>
            </a:avLst>
          </a:prstGeom>
          <a:solidFill>
            <a:srgbClr val="C5D8A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8"/>
          <p:cNvSpPr/>
          <p:nvPr/>
        </p:nvSpPr>
        <p:spPr>
          <a:xfrm>
            <a:off x="2967534" y="1859161"/>
            <a:ext cx="100776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VIP · σ R$ 476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8"/>
          <p:cNvSpPr/>
          <p:nvPr/>
        </p:nvSpPr>
        <p:spPr>
          <a:xfrm>
            <a:off x="3924498" y="1940421"/>
            <a:ext cx="254000" cy="50800"/>
          </a:xfrm>
          <a:prstGeom prst="roundRect">
            <a:avLst>
              <a:gd fmla="val 50000" name="adj"/>
            </a:avLst>
          </a:prstGeom>
          <a:solidFill>
            <a:srgbClr val="F6F2E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8"/>
          <p:cNvSpPr/>
          <p:nvPr/>
        </p:nvSpPr>
        <p:spPr>
          <a:xfrm>
            <a:off x="4254698" y="1859161"/>
            <a:ext cx="1456015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PRIME · σ R$ 1.061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8"/>
          <p:cNvSpPr/>
          <p:nvPr/>
        </p:nvSpPr>
        <p:spPr>
          <a:xfrm>
            <a:off x="812800" y="2072481"/>
            <a:ext cx="389155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Erro-padrão da média (R$), escala logarítmica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urvas do erro-padrão por tamanho da amostra, em escala logarítmica. As três curvas têm a mesma forma e alturas diferentes, e o critério percentual para em n igual a 5.300 nos três grupos." id="141" name="Google Shape;14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2387402"/>
            <a:ext cx="5588000" cy="2413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8"/>
          <p:cNvSpPr/>
          <p:nvPr/>
        </p:nvSpPr>
        <p:spPr>
          <a:xfrm>
            <a:off x="762000" y="2508052"/>
            <a:ext cx="4064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8"/>
          <p:cNvSpPr/>
          <p:nvPr/>
        </p:nvSpPr>
        <p:spPr>
          <a:xfrm>
            <a:off x="762000" y="3505002"/>
            <a:ext cx="4064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8"/>
          <p:cNvSpPr/>
          <p:nvPr/>
        </p:nvSpPr>
        <p:spPr>
          <a:xfrm>
            <a:off x="762000" y="4501952"/>
            <a:ext cx="4064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8"/>
          <p:cNvSpPr/>
          <p:nvPr/>
        </p:nvSpPr>
        <p:spPr>
          <a:xfrm>
            <a:off x="977900" y="4660702"/>
            <a:ext cx="558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8"/>
          <p:cNvSpPr/>
          <p:nvPr/>
        </p:nvSpPr>
        <p:spPr>
          <a:xfrm>
            <a:off x="2705100" y="4660702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4489450" y="4660702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5740400" y="4660702"/>
            <a:ext cx="685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50.000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406900" y="2463602"/>
            <a:ext cx="14478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D58A96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D58A96"/>
                </a:solidFill>
                <a:latin typeface="DM Sans"/>
                <a:ea typeface="DM Sans"/>
                <a:cs typeface="DM Sans"/>
                <a:sym typeface="DM Sans"/>
              </a:rPr>
              <a:t>n = 5.300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1184910" y="4914702"/>
            <a:ext cx="49707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Tamanho da amostra (n), escala logarítmica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997700" y="1859161"/>
            <a:ext cx="4512945" cy="695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Mesma forma, alturas diferentes.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997700" y="2963267"/>
            <a:ext cx="4512945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O erro cai como σ/√n. Parar quando a queda relativa fica abaixo de 1%.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997700" y="3965773"/>
            <a:ext cx="4512945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Essa queda só depende de n, não de σ: todos param em 5.300.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6997700" y="4968280"/>
            <a:ext cx="4381500" cy="873720"/>
          </a:xfrm>
          <a:prstGeom prst="roundRect">
            <a:avLst>
              <a:gd fmla="val 8721" name="adj"/>
            </a:avLst>
          </a:prstGeom>
          <a:solidFill>
            <a:srgbClr val="2F353B"/>
          </a:solidFill>
          <a:ln>
            <a:noFill/>
          </a:ln>
        </p:spPr>
        <p:txBody>
          <a:bodyPr anchorCtr="0" anchor="t" bIns="104675" lIns="231675" spcFirstLastPara="1" rIns="63150" wrap="square" tIns="130075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Esse critério não enxerga a variabilidade. Precisei de outra régua.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6997700" y="4968280"/>
            <a:ext cx="4381500" cy="873720"/>
          </a:xfrm>
          <a:custGeom>
            <a:rect b="b" l="l" r="r" t="t"/>
            <a:pathLst>
              <a:path extrusionOk="0" h="873720" w="4381500">
                <a:moveTo>
                  <a:pt x="76200" y="873720"/>
                </a:moveTo>
                <a:lnTo>
                  <a:pt x="76200" y="873720"/>
                </a:lnTo>
                <a:cubicBezTo>
                  <a:pt x="34116" y="873720"/>
                  <a:pt x="0" y="839604"/>
                  <a:pt x="0" y="79752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797520"/>
                </a:lnTo>
                <a:cubicBezTo>
                  <a:pt x="50800" y="817729"/>
                  <a:pt x="53476" y="837111"/>
                  <a:pt x="58239" y="851402"/>
                </a:cubicBezTo>
                <a:cubicBezTo>
                  <a:pt x="63003" y="865692"/>
                  <a:pt x="69464" y="873720"/>
                  <a:pt x="76200" y="873720"/>
                </a:cubicBezTo>
                <a:close/>
              </a:path>
            </a:pathLst>
          </a:custGeom>
          <a:solidFill>
            <a:srgbClr val="D58A9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8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6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9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A NOVA RÉGUA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Medir a margem de erro, por bootstrap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812800" y="1859161"/>
            <a:ext cx="406400" cy="33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1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9"/>
          <p:cNvSpPr/>
          <p:nvPr/>
        </p:nvSpPr>
        <p:spPr>
          <a:xfrm>
            <a:off x="1270000" y="1859161"/>
            <a:ext cx="33748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Sorteio com reposição, 300 vezes, de n observações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9"/>
          <p:cNvSpPr/>
          <p:nvPr/>
        </p:nvSpPr>
        <p:spPr>
          <a:xfrm>
            <a:off x="812800" y="2605881"/>
            <a:ext cx="406400" cy="33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9"/>
          <p:cNvSpPr/>
          <p:nvPr/>
        </p:nvSpPr>
        <p:spPr>
          <a:xfrm>
            <a:off x="1270000" y="2605881"/>
            <a:ext cx="33748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Média de cada sorteio e IC de 95% da média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9"/>
          <p:cNvSpPr/>
          <p:nvPr/>
        </p:nvSpPr>
        <p:spPr>
          <a:xfrm>
            <a:off x="812800" y="3352602"/>
            <a:ext cx="406400" cy="3326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3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9"/>
          <p:cNvSpPr/>
          <p:nvPr/>
        </p:nvSpPr>
        <p:spPr>
          <a:xfrm>
            <a:off x="1270000" y="3352602"/>
            <a:ext cx="3374898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Menor n em que a margem do IC fica em até 1%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9"/>
          <p:cNvSpPr/>
          <p:nvPr/>
        </p:nvSpPr>
        <p:spPr>
          <a:xfrm>
            <a:off x="5156200" y="1859161"/>
            <a:ext cx="640969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n necessário para margem de até 1%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9"/>
          <p:cNvSpPr/>
          <p:nvPr/>
        </p:nvSpPr>
        <p:spPr>
          <a:xfrm>
            <a:off x="5156200" y="2209602"/>
            <a:ext cx="14478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VIP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9"/>
          <p:cNvSpPr/>
          <p:nvPr/>
        </p:nvSpPr>
        <p:spPr>
          <a:xfrm>
            <a:off x="6705600" y="2174081"/>
            <a:ext cx="889000" cy="355600"/>
          </a:xfrm>
          <a:prstGeom prst="roundRect">
            <a:avLst>
              <a:gd fmla="val 14286" name="adj"/>
            </a:avLst>
          </a:prstGeom>
          <a:solidFill>
            <a:srgbClr val="5C7C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"/>
          <p:cNvSpPr/>
          <p:nvPr/>
        </p:nvSpPr>
        <p:spPr>
          <a:xfrm>
            <a:off x="7747000" y="2209602"/>
            <a:ext cx="81736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10.000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9"/>
          <p:cNvSpPr/>
          <p:nvPr/>
        </p:nvSpPr>
        <p:spPr>
          <a:xfrm>
            <a:off x="5156200" y="2743002"/>
            <a:ext cx="14478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PRIME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9"/>
          <p:cNvSpPr/>
          <p:nvPr/>
        </p:nvSpPr>
        <p:spPr>
          <a:xfrm>
            <a:off x="6705600" y="2707481"/>
            <a:ext cx="1333500" cy="355600"/>
          </a:xfrm>
          <a:prstGeom prst="roundRect">
            <a:avLst>
              <a:gd fmla="val 14286" name="adj"/>
            </a:avLst>
          </a:prstGeom>
          <a:solidFill>
            <a:srgbClr val="23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"/>
          <p:cNvSpPr/>
          <p:nvPr/>
        </p:nvSpPr>
        <p:spPr>
          <a:xfrm>
            <a:off x="8191500" y="2743002"/>
            <a:ext cx="80688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15.000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"/>
          <p:cNvSpPr/>
          <p:nvPr/>
        </p:nvSpPr>
        <p:spPr>
          <a:xfrm>
            <a:off x="5156200" y="3276402"/>
            <a:ext cx="14478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ESSENTIAL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9"/>
          <p:cNvSpPr/>
          <p:nvPr/>
        </p:nvSpPr>
        <p:spPr>
          <a:xfrm>
            <a:off x="6705600" y="3240881"/>
            <a:ext cx="2222500" cy="355600"/>
          </a:xfrm>
          <a:prstGeom prst="roundRect">
            <a:avLst>
              <a:gd fmla="val 14286" name="adj"/>
            </a:avLst>
          </a:prstGeom>
          <a:solidFill>
            <a:srgbClr val="8FA5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9"/>
          <p:cNvSpPr/>
          <p:nvPr/>
        </p:nvSpPr>
        <p:spPr>
          <a:xfrm>
            <a:off x="9080500" y="3276402"/>
            <a:ext cx="85891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25.000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9"/>
          <p:cNvSpPr/>
          <p:nvPr/>
        </p:nvSpPr>
        <p:spPr>
          <a:xfrm>
            <a:off x="5156200" y="3809802"/>
            <a:ext cx="14478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GERAL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6705600" y="3774281"/>
            <a:ext cx="3556000" cy="355600"/>
          </a:xfrm>
          <a:prstGeom prst="roundRect">
            <a:avLst>
              <a:gd fmla="val 14286" name="adj"/>
            </a:avLst>
          </a:prstGeom>
          <a:solidFill>
            <a:srgbClr val="8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9"/>
          <p:cNvSpPr/>
          <p:nvPr/>
        </p:nvSpPr>
        <p:spPr>
          <a:xfrm>
            <a:off x="10414000" y="3809802"/>
            <a:ext cx="887135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40.000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812800" y="4383881"/>
            <a:ext cx="10566400" cy="954980"/>
          </a:xfrm>
          <a:prstGeom prst="roundRect">
            <a:avLst>
              <a:gd fmla="val 10639" name="adj"/>
            </a:avLst>
          </a:prstGeom>
          <a:solidFill>
            <a:srgbClr val="23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9"/>
          <p:cNvSpPr/>
          <p:nvPr/>
        </p:nvSpPr>
        <p:spPr>
          <a:xfrm>
            <a:off x="1066800" y="4561681"/>
            <a:ext cx="1036015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Adotado: n = 40.000 por grupo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9"/>
          <p:cNvSpPr/>
          <p:nvPr/>
        </p:nvSpPr>
        <p:spPr>
          <a:xfrm>
            <a:off x="1066800" y="4947741"/>
            <a:ext cx="1036015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O cenário mais exigente (base geral, sem separar por tipo de conta) vale para todos, garantindo margem de até 1%.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7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0"/>
          <p:cNvSpPr/>
          <p:nvPr/>
        </p:nvSpPr>
        <p:spPr>
          <a:xfrm>
            <a:off x="812800" y="812800"/>
            <a:ext cx="10883392" cy="2365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196"/>
              <a:buFont typeface="DM Sans"/>
              <a:buNone/>
            </a:pPr>
            <a:r>
              <a:rPr b="1" i="0" lang="en-US" sz="1196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A PROVA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0"/>
          <p:cNvSpPr/>
          <p:nvPr/>
        </p:nvSpPr>
        <p:spPr>
          <a:xfrm>
            <a:off x="812800" y="1100138"/>
            <a:ext cx="10883392" cy="5231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566"/>
              <a:buFont typeface="Fraunces"/>
              <a:buNone/>
            </a:pPr>
            <a:r>
              <a:rPr b="1" i="0" lang="en-US" sz="3566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Três provas contra a população inteira</a:t>
            </a:r>
            <a:endParaRPr b="0" i="0" sz="3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0"/>
          <p:cNvSpPr/>
          <p:nvPr/>
        </p:nvSpPr>
        <p:spPr>
          <a:xfrm>
            <a:off x="815975" y="1855093"/>
            <a:ext cx="3380284" cy="1541165"/>
          </a:xfrm>
          <a:prstGeom prst="roundRect">
            <a:avLst>
              <a:gd fmla="val 638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"/>
          <p:cNvSpPr/>
          <p:nvPr/>
        </p:nvSpPr>
        <p:spPr>
          <a:xfrm>
            <a:off x="1022350" y="2010668"/>
            <a:ext cx="3056560" cy="236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196"/>
              <a:buFont typeface="DM Sans"/>
              <a:buNone/>
            </a:pPr>
            <a:r>
              <a:rPr b="1" i="0" lang="en-US" sz="1196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VIÉS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0"/>
          <p:cNvSpPr/>
          <p:nvPr/>
        </p:nvSpPr>
        <p:spPr>
          <a:xfrm>
            <a:off x="1022350" y="2272109"/>
            <a:ext cx="3056560" cy="52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566"/>
              <a:buFont typeface="Fraunces"/>
              <a:buNone/>
            </a:pPr>
            <a:r>
              <a:rPr b="1" i="0" lang="en-US" sz="3566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&lt; 0,02%</a:t>
            </a:r>
            <a:endParaRPr b="0" i="0" sz="3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0"/>
          <p:cNvSpPr/>
          <p:nvPr/>
        </p:nvSpPr>
        <p:spPr>
          <a:xfrm>
            <a:off x="1022350" y="2819400"/>
            <a:ext cx="3056560" cy="446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185"/>
              <a:buFont typeface="DM Sans"/>
              <a:buNone/>
            </a:pPr>
            <a:r>
              <a:rPr b="0" i="0" lang="en-US" sz="1185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A média da amostra acerta a média real do grupo.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4405809" y="1855093"/>
            <a:ext cx="3380383" cy="1541165"/>
          </a:xfrm>
          <a:prstGeom prst="roundRect">
            <a:avLst>
              <a:gd fmla="val 638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0"/>
          <p:cNvSpPr/>
          <p:nvPr/>
        </p:nvSpPr>
        <p:spPr>
          <a:xfrm>
            <a:off x="4612184" y="2010668"/>
            <a:ext cx="3056662" cy="236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196"/>
              <a:buFont typeface="DM Sans"/>
              <a:buNone/>
            </a:pPr>
            <a:r>
              <a:rPr b="1" i="0" lang="en-US" sz="1196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PRECISÃO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4612184" y="2272109"/>
            <a:ext cx="3056662" cy="52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566"/>
              <a:buFont typeface="Fraunces"/>
              <a:buNone/>
            </a:pPr>
            <a:r>
              <a:rPr b="1" i="0" lang="en-US" sz="3566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≤ ±1,0%</a:t>
            </a:r>
            <a:endParaRPr b="0" i="0" sz="3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4612184" y="2819400"/>
            <a:ext cx="3056662" cy="446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185"/>
              <a:buFont typeface="DM Sans"/>
              <a:buNone/>
            </a:pPr>
            <a:r>
              <a:rPr b="0" i="0" lang="en-US" sz="1185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Margem do IC de 95%, de ±0,48% a ±1,00% nos grupos.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995741" y="1855093"/>
            <a:ext cx="3380284" cy="1541165"/>
          </a:xfrm>
          <a:prstGeom prst="roundRect">
            <a:avLst>
              <a:gd fmla="val 638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0"/>
          <p:cNvSpPr/>
          <p:nvPr/>
        </p:nvSpPr>
        <p:spPr>
          <a:xfrm>
            <a:off x="8202116" y="2010668"/>
            <a:ext cx="3056560" cy="236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5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196"/>
              <a:buFont typeface="DM Sans"/>
              <a:buNone/>
            </a:pPr>
            <a:r>
              <a:rPr b="1" i="0" lang="en-US" sz="1196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COBERTURA</a:t>
            </a:r>
            <a:endParaRPr b="0" i="0" sz="119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8202116" y="2272109"/>
            <a:ext cx="3056560" cy="5218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11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566"/>
              <a:buFont typeface="Fraunces"/>
              <a:buNone/>
            </a:pPr>
            <a:r>
              <a:rPr b="1" i="0" lang="en-US" sz="3566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95–97%</a:t>
            </a:r>
            <a:endParaRPr b="0" i="0" sz="356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8202116" y="2819400"/>
            <a:ext cx="3056560" cy="44668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185"/>
              <a:buFont typeface="DM Sans"/>
              <a:buNone/>
            </a:pPr>
            <a:r>
              <a:rPr b="0" i="0" lang="en-US" sz="1185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O IC de 95% contém a média real em 95–97% de 1.000 amostras.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08" name="Google Shape;208;p10"/>
          <p:cNvGraphicFramePr/>
          <p:nvPr/>
        </p:nvGraphicFramePr>
        <p:xfrm>
          <a:off x="825500" y="366613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{F05D1363-8ED7-4B27-8D4A-4F9ED3E57FFD}</a:tableStyleId>
              </a:tblPr>
              <a:tblGrid>
                <a:gridCol w="3588250"/>
                <a:gridCol w="2321825"/>
                <a:gridCol w="2321825"/>
                <a:gridCol w="2321825"/>
              </a:tblGrid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585"/>
                        <a:buFont typeface="DM Sans"/>
                        <a:buNone/>
                      </a:pPr>
                      <a:r>
                        <a:rPr b="1" lang="en-US" sz="1585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Grupo (n = 40.000)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585"/>
                        <a:buFont typeface="DM Sans"/>
                        <a:buNone/>
                      </a:pPr>
                      <a:r>
                        <a:rPr b="1" lang="en-US" sz="1585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Viés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585"/>
                        <a:buFont typeface="DM Sans"/>
                        <a:buNone/>
                      </a:pPr>
                      <a:r>
                        <a:rPr b="1" lang="en-US" sz="1585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Margem do IC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585"/>
                        <a:buFont typeface="DM Sans"/>
                        <a:buNone/>
                      </a:pPr>
                      <a:r>
                        <a:rPr b="1" lang="en-US" sz="1585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Cobertura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ESSENTIAL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0,009%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±0,78%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96,1%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VIP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0,011%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±0,51%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95,0%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PRIME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0,001%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±0,48%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97,0%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</a:tr>
              <a:tr h="43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GERAL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0,016%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±1,00%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585"/>
                        <a:buFont typeface="DM Sans"/>
                        <a:buNone/>
                      </a:pPr>
                      <a:r>
                        <a:rPr lang="en-US" sz="1585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96,0%</a:t>
                      </a:r>
                      <a:endParaRPr sz="1585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0450" marB="70450" marR="70450" marL="70450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</a:tr>
            </a:tbl>
          </a:graphicData>
        </a:graphic>
      </p:graphicFrame>
      <p:sp>
        <p:nvSpPr>
          <p:cNvPr id="209" name="Google Shape;209;p10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8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1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OUTLIERS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1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Separar por grupo muda a leitura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1"/>
          <p:cNvSpPr/>
          <p:nvPr/>
        </p:nvSpPr>
        <p:spPr>
          <a:xfrm>
            <a:off x="812800" y="1859161"/>
            <a:ext cx="62788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Notas fora dos limites do intervalo interquartil, por grupo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1"/>
          <p:cNvSpPr/>
          <p:nvPr/>
        </p:nvSpPr>
        <p:spPr>
          <a:xfrm>
            <a:off x="812800" y="2235002"/>
            <a:ext cx="13843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ESSENTIAL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1"/>
          <p:cNvSpPr/>
          <p:nvPr/>
        </p:nvSpPr>
        <p:spPr>
          <a:xfrm>
            <a:off x="2298700" y="2199481"/>
            <a:ext cx="939800" cy="355600"/>
          </a:xfrm>
          <a:prstGeom prst="roundRect">
            <a:avLst>
              <a:gd fmla="val 14286" name="adj"/>
            </a:avLst>
          </a:prstGeom>
          <a:solidFill>
            <a:srgbClr val="8FA56E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1"/>
          <p:cNvSpPr/>
          <p:nvPr/>
        </p:nvSpPr>
        <p:spPr>
          <a:xfrm>
            <a:off x="3390900" y="2235002"/>
            <a:ext cx="1717953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3,66% (24.371)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1"/>
          <p:cNvSpPr/>
          <p:nvPr/>
        </p:nvSpPr>
        <p:spPr>
          <a:xfrm>
            <a:off x="812800" y="2743002"/>
            <a:ext cx="13843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VIP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1"/>
          <p:cNvSpPr/>
          <p:nvPr/>
        </p:nvSpPr>
        <p:spPr>
          <a:xfrm>
            <a:off x="2298700" y="2707481"/>
            <a:ext cx="698500" cy="355600"/>
          </a:xfrm>
          <a:prstGeom prst="roundRect">
            <a:avLst>
              <a:gd fmla="val 14286" name="adj"/>
            </a:avLst>
          </a:prstGeom>
          <a:solidFill>
            <a:srgbClr val="5C7C3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1"/>
          <p:cNvSpPr/>
          <p:nvPr/>
        </p:nvSpPr>
        <p:spPr>
          <a:xfrm>
            <a:off x="3149600" y="2743002"/>
            <a:ext cx="15215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2,71% (7.087)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1"/>
          <p:cNvSpPr/>
          <p:nvPr/>
        </p:nvSpPr>
        <p:spPr>
          <a:xfrm>
            <a:off x="812800" y="3251002"/>
            <a:ext cx="13843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PRIME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1"/>
          <p:cNvSpPr/>
          <p:nvPr/>
        </p:nvSpPr>
        <p:spPr>
          <a:xfrm>
            <a:off x="2298700" y="3215481"/>
            <a:ext cx="38100" cy="355600"/>
          </a:xfrm>
          <a:prstGeom prst="roundRect">
            <a:avLst>
              <a:gd fmla="val 50000" name="adj"/>
            </a:avLst>
          </a:prstGeom>
          <a:solidFill>
            <a:srgbClr val="23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11"/>
          <p:cNvSpPr/>
          <p:nvPr/>
        </p:nvSpPr>
        <p:spPr>
          <a:xfrm>
            <a:off x="2489200" y="3251002"/>
            <a:ext cx="1655207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~0% (2 notas)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1"/>
          <p:cNvSpPr/>
          <p:nvPr/>
        </p:nvSpPr>
        <p:spPr>
          <a:xfrm>
            <a:off x="812800" y="3759002"/>
            <a:ext cx="138430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Sem separar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1"/>
          <p:cNvSpPr/>
          <p:nvPr/>
        </p:nvSpPr>
        <p:spPr>
          <a:xfrm>
            <a:off x="2298700" y="3723481"/>
            <a:ext cx="2540000" cy="355600"/>
          </a:xfrm>
          <a:prstGeom prst="roundRect">
            <a:avLst>
              <a:gd fmla="val 14286" name="adj"/>
            </a:avLst>
          </a:prstGeom>
          <a:solidFill>
            <a:srgbClr val="8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1"/>
          <p:cNvSpPr/>
          <p:nvPr/>
        </p:nvSpPr>
        <p:spPr>
          <a:xfrm>
            <a:off x="4991100" y="3759002"/>
            <a:ext cx="1751171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9,89% (110.751)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1"/>
          <p:cNvSpPr/>
          <p:nvPr/>
        </p:nvSpPr>
        <p:spPr>
          <a:xfrm>
            <a:off x="812800" y="4206081"/>
            <a:ext cx="627888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Limite superior por grupo: ESSENTIAL R$ 888 · VIP R$ 2.126 · PRIME R$ 5.576.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1"/>
          <p:cNvSpPr/>
          <p:nvPr/>
        </p:nvSpPr>
        <p:spPr>
          <a:xfrm>
            <a:off x="7518400" y="1859161"/>
            <a:ext cx="3860800" cy="2560241"/>
          </a:xfrm>
          <a:prstGeom prst="roundRect">
            <a:avLst>
              <a:gd fmla="val 3968" name="adj"/>
            </a:avLst>
          </a:prstGeom>
          <a:solidFill>
            <a:srgbClr val="23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11"/>
          <p:cNvSpPr/>
          <p:nvPr/>
        </p:nvSpPr>
        <p:spPr>
          <a:xfrm>
            <a:off x="7721600" y="2062361"/>
            <a:ext cx="355803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A9C27A"/>
                </a:solidFill>
                <a:latin typeface="DM Sans"/>
                <a:ea typeface="DM Sans"/>
                <a:cs typeface="DM Sans"/>
                <a:sym typeface="DM Sans"/>
              </a:rPr>
              <a:t>DECISÃO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1"/>
          <p:cNvSpPr/>
          <p:nvPr/>
        </p:nvSpPr>
        <p:spPr>
          <a:xfrm>
            <a:off x="7721600" y="2377281"/>
            <a:ext cx="355803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Manter os outliers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1"/>
          <p:cNvSpPr/>
          <p:nvPr/>
        </p:nvSpPr>
        <p:spPr>
          <a:xfrm>
            <a:off x="7721600" y="2814141"/>
            <a:ext cx="3558032" cy="1163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São gastos reais de clientes de alto consumo, não erros de coleta. Removê-los distorceria o perfil de cada grupo, sobretudo o PRIME.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11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1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9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2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TESTES DE HIPÓTESE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2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ESSENTIAL × PRIME, quatro perguntas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2"/>
          <p:cNvSpPr/>
          <p:nvPr/>
        </p:nvSpPr>
        <p:spPr>
          <a:xfrm>
            <a:off x="815975" y="1862336"/>
            <a:ext cx="5200650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12"/>
          <p:cNvSpPr/>
          <p:nvPr/>
        </p:nvSpPr>
        <p:spPr>
          <a:xfrm>
            <a:off x="1022350" y="2043311"/>
            <a:ext cx="49315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1 · NORMALIDADE (ANDERSON-DARLING)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"/>
          <p:cNvSpPr/>
          <p:nvPr/>
        </p:nvSpPr>
        <p:spPr>
          <a:xfrm>
            <a:off x="1022350" y="2320131"/>
            <a:ext cx="4931537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Não são normais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2"/>
          <p:cNvSpPr/>
          <p:nvPr/>
        </p:nvSpPr>
        <p:spPr>
          <a:xfrm>
            <a:off x="1022350" y="2718891"/>
            <a:ext cx="493153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Rejeitada em todos os níveis de confiança, de 15% a 1%. Estatística 3.557 no ESSENTIAL e 253 no PRIME.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12"/>
          <p:cNvSpPr/>
          <p:nvPr/>
        </p:nvSpPr>
        <p:spPr>
          <a:xfrm>
            <a:off x="6175375" y="1862336"/>
            <a:ext cx="5200650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2"/>
          <p:cNvSpPr/>
          <p:nvPr/>
        </p:nvSpPr>
        <p:spPr>
          <a:xfrm>
            <a:off x="6381750" y="2043311"/>
            <a:ext cx="49315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2 · INDEPENDÊNCIA (PEARSON, SPEARMAN, KENDALL)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12"/>
          <p:cNvSpPr/>
          <p:nvPr/>
        </p:nvSpPr>
        <p:spPr>
          <a:xfrm>
            <a:off x="6381750" y="2320131"/>
            <a:ext cx="4931537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São independentes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2"/>
          <p:cNvSpPr/>
          <p:nvPr/>
        </p:nvSpPr>
        <p:spPr>
          <a:xfrm>
            <a:off x="6381750" y="2718891"/>
            <a:ext cx="493153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p-valores de 0,45 a 0,77. O IC bootstrap da correlação de Spearman (−0,009 a 0,012) inclui o zero.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12"/>
          <p:cNvSpPr/>
          <p:nvPr/>
        </p:nvSpPr>
        <p:spPr>
          <a:xfrm>
            <a:off x="815975" y="3929955"/>
            <a:ext cx="5200650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2"/>
          <p:cNvSpPr/>
          <p:nvPr/>
        </p:nvSpPr>
        <p:spPr>
          <a:xfrm>
            <a:off x="1022350" y="4110930"/>
            <a:ext cx="49315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3 · DISTRIBUIÇÃO (T, ANOVA, MANN-WHITNEY, KRUSKAL)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12"/>
          <p:cNvSpPr/>
          <p:nvPr/>
        </p:nvSpPr>
        <p:spPr>
          <a:xfrm>
            <a:off x="1022350" y="4387751"/>
            <a:ext cx="4931537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Distribuições diferentes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2"/>
          <p:cNvSpPr/>
          <p:nvPr/>
        </p:nvSpPr>
        <p:spPr>
          <a:xfrm>
            <a:off x="1022350" y="4786511"/>
            <a:ext cx="493153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Os quatro testes rejeitam com p ≈ 0. Melhor ajuste: Kruskal-Wallis, que não exige normalidade.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2"/>
          <p:cNvSpPr/>
          <p:nvPr/>
        </p:nvSpPr>
        <p:spPr>
          <a:xfrm>
            <a:off x="6175375" y="3929955"/>
            <a:ext cx="5200650" cy="1908870"/>
          </a:xfrm>
          <a:prstGeom prst="roundRect">
            <a:avLst>
              <a:gd fmla="val 5156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12"/>
          <p:cNvSpPr/>
          <p:nvPr/>
        </p:nvSpPr>
        <p:spPr>
          <a:xfrm>
            <a:off x="6381750" y="4110930"/>
            <a:ext cx="4931537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4 · MÉDIAS (TESTE T DE DUAS AMOSTRAS)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12"/>
          <p:cNvSpPr/>
          <p:nvPr/>
        </p:nvSpPr>
        <p:spPr>
          <a:xfrm>
            <a:off x="6381750" y="4387751"/>
            <a:ext cx="4931537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Médias diferentes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2"/>
          <p:cNvSpPr/>
          <p:nvPr/>
        </p:nvSpPr>
        <p:spPr>
          <a:xfrm>
            <a:off x="6381750" y="4786511"/>
            <a:ext cx="493153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R$ 416 contra R$ 2.155, mais de 5 vezes. Os ICs bootstrap (413 a 419 e 2.144 a 2.164) não se encostam.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2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2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10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3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ESTATÍSTICA DESCRITIVA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13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Matriz comparativa dos três grupos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0" name="Google Shape;270;p13"/>
          <p:cNvGraphicFramePr/>
          <p:nvPr/>
        </p:nvGraphicFramePr>
        <p:xfrm>
          <a:off x="825500" y="1871861"/>
          <a:ext cx="3000000" cy="3000000"/>
        </p:xfrm>
        <a:graphic>
          <a:graphicData uri="http://schemas.openxmlformats.org/drawingml/2006/table">
            <a:tbl>
              <a:tblPr>
                <a:noFill/>
                <a:tableStyleId>{F05D1363-8ED7-4B27-8D4A-4F9ED3E57FFD}</a:tableStyleId>
              </a:tblPr>
              <a:tblGrid>
                <a:gridCol w="4221475"/>
                <a:gridCol w="2110750"/>
                <a:gridCol w="2110750"/>
                <a:gridCol w="2110750"/>
              </a:tblGrid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600"/>
                        <a:buFont typeface="DM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Indicador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600"/>
                        <a:buFont typeface="DM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ESSENTIAL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600"/>
                        <a:buFont typeface="DM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VIP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6F2E9"/>
                        </a:buClr>
                        <a:buSzPts val="1600"/>
                        <a:buFont typeface="DM Sans"/>
                        <a:buNone/>
                      </a:pPr>
                      <a:r>
                        <a:rPr b="1" lang="en-US" sz="1600" u="none" cap="none" strike="noStrike">
                          <a:solidFill>
                            <a:srgbClr val="F6F2E9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PRIME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272B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Mediana da renda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R$ 3.257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R$ 7.776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R$ 20.905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202326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Mediana do gasto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R$ 370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R$ 872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R$ 2.086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Coeficiente de variação do gasto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0,79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0,52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0,49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BF9F3"/>
                    </a:solidFill>
                  </a:tcPr>
                </a:tc>
              </a:tr>
              <a:tr h="4392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Assimetria do gasto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C4C1BA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4,74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1,59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23272B"/>
                        </a:buClr>
                        <a:buSzPts val="1600"/>
                        <a:buFont typeface="DM Sans"/>
                        <a:buNone/>
                      </a:pPr>
                      <a:r>
                        <a:rPr lang="en-US" sz="1600" u="none" cap="none" strike="noStrike">
                          <a:solidFill>
                            <a:srgbClr val="23272B"/>
                          </a:solidFill>
                          <a:latin typeface="DM Sans"/>
                          <a:ea typeface="DM Sans"/>
                          <a:cs typeface="DM Sans"/>
                          <a:sym typeface="DM Sans"/>
                        </a:rPr>
                        <a:t>0,21</a:t>
                      </a:r>
                      <a:endParaRPr sz="1600" u="none" cap="none" strike="noStrike">
                        <a:latin typeface="DM Sans"/>
                        <a:ea typeface="DM Sans"/>
                        <a:cs typeface="DM Sans"/>
                        <a:sym typeface="DM Sans"/>
                      </a:endParaRPr>
                    </a:p>
                  </a:txBody>
                  <a:tcPr marT="71125" marB="71125" marR="71125" marL="71125">
                    <a:lnL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C8C7C2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CB8AD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ECE6D8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13"/>
          <p:cNvSpPr/>
          <p:nvPr/>
        </p:nvSpPr>
        <p:spPr>
          <a:xfrm>
            <a:off x="815975" y="4325243"/>
            <a:ext cx="5175250" cy="1123851"/>
          </a:xfrm>
          <a:prstGeom prst="roundRect">
            <a:avLst>
              <a:gd fmla="val 8758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13"/>
          <p:cNvSpPr/>
          <p:nvPr/>
        </p:nvSpPr>
        <p:spPr>
          <a:xfrm>
            <a:off x="1022350" y="4506218"/>
            <a:ext cx="4905375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Cauda longa no ESSENTIAL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13"/>
          <p:cNvSpPr/>
          <p:nvPr/>
        </p:nvSpPr>
        <p:spPr>
          <a:xfrm>
            <a:off x="1022350" y="4841478"/>
            <a:ext cx="490537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Poucos clientes gastam muito mais que a maioria (assimetria 4,74). No PRIME a distribuição é quase simétrica (0,21).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3"/>
          <p:cNvSpPr/>
          <p:nvPr/>
        </p:nvSpPr>
        <p:spPr>
          <a:xfrm>
            <a:off x="6200775" y="4325243"/>
            <a:ext cx="5175250" cy="1123851"/>
          </a:xfrm>
          <a:prstGeom prst="roundRect">
            <a:avLst>
              <a:gd fmla="val 8758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13"/>
          <p:cNvSpPr/>
          <p:nvPr/>
        </p:nvSpPr>
        <p:spPr>
          <a:xfrm>
            <a:off x="6407150" y="4506218"/>
            <a:ext cx="4905375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Base concentrada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6407150" y="4841478"/>
            <a:ext cx="4905375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67% dos clientes são do Sudeste, 87% são homens e 55% são casados: o padrão 80/20 aparece nas qualitativas.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11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6F2E9"/>
        </a:solidFill>
      </p:bgPr>
    </p:bg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4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5C7C3F"/>
                </a:solidFill>
                <a:latin typeface="DM Sans"/>
                <a:ea typeface="DM Sans"/>
                <a:cs typeface="DM Sans"/>
                <a:sym typeface="DM Sans"/>
              </a:rPr>
              <a:t>PESQUISA DE SATISFAÇÃO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De 25 frases a uma escala de 5 notas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86" name="Google Shape;286;p14"/>
          <p:cNvCxnSpPr/>
          <p:nvPr/>
        </p:nvCxnSpPr>
        <p:spPr>
          <a:xfrm>
            <a:off x="812800" y="2563316"/>
            <a:ext cx="5969000" cy="0"/>
          </a:xfrm>
          <a:prstGeom prst="straightConnector1">
            <a:avLst/>
          </a:prstGeom>
          <a:noFill/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87" name="Google Shape;287;p14"/>
          <p:cNvSpPr/>
          <p:nvPr/>
        </p:nvSpPr>
        <p:spPr>
          <a:xfrm>
            <a:off x="812800" y="1981002"/>
            <a:ext cx="457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5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14"/>
          <p:cNvSpPr/>
          <p:nvPr/>
        </p:nvSpPr>
        <p:spPr>
          <a:xfrm>
            <a:off x="1371600" y="1948061"/>
            <a:ext cx="449986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Muito satisfeito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4"/>
          <p:cNvSpPr/>
          <p:nvPr/>
        </p:nvSpPr>
        <p:spPr>
          <a:xfrm>
            <a:off x="1371600" y="2257921"/>
            <a:ext cx="449986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1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“Superou expectativas o atendimento na UVVine”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4"/>
          <p:cNvSpPr/>
          <p:nvPr/>
        </p:nvSpPr>
        <p:spPr>
          <a:xfrm>
            <a:off x="5842000" y="2014041"/>
            <a:ext cx="939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3%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1" name="Google Shape;291;p14"/>
          <p:cNvCxnSpPr/>
          <p:nvPr/>
        </p:nvCxnSpPr>
        <p:spPr>
          <a:xfrm>
            <a:off x="812800" y="3270647"/>
            <a:ext cx="5969000" cy="0"/>
          </a:xfrm>
          <a:prstGeom prst="straightConnector1">
            <a:avLst/>
          </a:prstGeom>
          <a:noFill/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2" name="Google Shape;292;p14"/>
          <p:cNvSpPr/>
          <p:nvPr/>
        </p:nvSpPr>
        <p:spPr>
          <a:xfrm>
            <a:off x="812800" y="2688332"/>
            <a:ext cx="457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4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4"/>
          <p:cNvSpPr/>
          <p:nvPr/>
        </p:nvSpPr>
        <p:spPr>
          <a:xfrm>
            <a:off x="1371600" y="2655391"/>
            <a:ext cx="449986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Satisfeito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4"/>
          <p:cNvSpPr/>
          <p:nvPr/>
        </p:nvSpPr>
        <p:spPr>
          <a:xfrm>
            <a:off x="1371600" y="2965252"/>
            <a:ext cx="449986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1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“Fiquei satisfeito com o serviço da UVVine”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4"/>
          <p:cNvSpPr/>
          <p:nvPr/>
        </p:nvSpPr>
        <p:spPr>
          <a:xfrm>
            <a:off x="5842000" y="2721372"/>
            <a:ext cx="939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77%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6" name="Google Shape;296;p14"/>
          <p:cNvCxnSpPr/>
          <p:nvPr/>
        </p:nvCxnSpPr>
        <p:spPr>
          <a:xfrm>
            <a:off x="812800" y="3977977"/>
            <a:ext cx="5969000" cy="0"/>
          </a:xfrm>
          <a:prstGeom prst="straightConnector1">
            <a:avLst/>
          </a:prstGeom>
          <a:noFill/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7" name="Google Shape;297;p14"/>
          <p:cNvSpPr/>
          <p:nvPr/>
        </p:nvSpPr>
        <p:spPr>
          <a:xfrm>
            <a:off x="812800" y="3395663"/>
            <a:ext cx="457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3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4"/>
          <p:cNvSpPr/>
          <p:nvPr/>
        </p:nvSpPr>
        <p:spPr>
          <a:xfrm>
            <a:off x="1371600" y="3362722"/>
            <a:ext cx="449986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Indiferente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4"/>
          <p:cNvSpPr/>
          <p:nvPr/>
        </p:nvSpPr>
        <p:spPr>
          <a:xfrm>
            <a:off x="1371600" y="3672582"/>
            <a:ext cx="449986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1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“Sem opinião formada sobre a UVVine”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"/>
          <p:cNvSpPr/>
          <p:nvPr/>
        </p:nvSpPr>
        <p:spPr>
          <a:xfrm>
            <a:off x="5842000" y="3428702"/>
            <a:ext cx="939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15%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1" name="Google Shape;301;p14"/>
          <p:cNvCxnSpPr/>
          <p:nvPr/>
        </p:nvCxnSpPr>
        <p:spPr>
          <a:xfrm>
            <a:off x="812800" y="4685308"/>
            <a:ext cx="5969000" cy="0"/>
          </a:xfrm>
          <a:prstGeom prst="straightConnector1">
            <a:avLst/>
          </a:prstGeom>
          <a:noFill/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2" name="Google Shape;302;p14"/>
          <p:cNvSpPr/>
          <p:nvPr/>
        </p:nvSpPr>
        <p:spPr>
          <a:xfrm>
            <a:off x="812800" y="4102993"/>
            <a:ext cx="457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2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4"/>
          <p:cNvSpPr/>
          <p:nvPr/>
        </p:nvSpPr>
        <p:spPr>
          <a:xfrm>
            <a:off x="1371600" y="4070052"/>
            <a:ext cx="449986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Insatisfeito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14"/>
          <p:cNvSpPr/>
          <p:nvPr/>
        </p:nvSpPr>
        <p:spPr>
          <a:xfrm>
            <a:off x="1371600" y="4379913"/>
            <a:ext cx="449986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1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“Foi aceitável, esperava mais da UVVine”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4"/>
          <p:cNvSpPr/>
          <p:nvPr/>
        </p:nvSpPr>
        <p:spPr>
          <a:xfrm>
            <a:off x="5842000" y="4136033"/>
            <a:ext cx="939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4%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4"/>
          <p:cNvSpPr/>
          <p:nvPr/>
        </p:nvSpPr>
        <p:spPr>
          <a:xfrm>
            <a:off x="812800" y="4810323"/>
            <a:ext cx="4572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C7C3F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5C7C3F"/>
                </a:solidFill>
                <a:latin typeface="Fraunces"/>
                <a:ea typeface="Fraunces"/>
                <a:cs typeface="Fraunces"/>
                <a:sym typeface="Fraunces"/>
              </a:rPr>
              <a:t>1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4"/>
          <p:cNvSpPr/>
          <p:nvPr/>
        </p:nvSpPr>
        <p:spPr>
          <a:xfrm>
            <a:off x="1371600" y="4777383"/>
            <a:ext cx="449986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Muito insatisfeito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4"/>
          <p:cNvSpPr/>
          <p:nvPr/>
        </p:nvSpPr>
        <p:spPr>
          <a:xfrm>
            <a:off x="1371600" y="5087243"/>
            <a:ext cx="4499864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1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“Tive uma experiência ruim com a UVVine”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4"/>
          <p:cNvSpPr/>
          <p:nvPr/>
        </p:nvSpPr>
        <p:spPr>
          <a:xfrm>
            <a:off x="5842000" y="4843363"/>
            <a:ext cx="939800" cy="4165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1%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4"/>
          <p:cNvSpPr/>
          <p:nvPr/>
        </p:nvSpPr>
        <p:spPr>
          <a:xfrm>
            <a:off x="7188200" y="1859161"/>
            <a:ext cx="4191000" cy="1361380"/>
          </a:xfrm>
          <a:prstGeom prst="roundRect">
            <a:avLst>
              <a:gd fmla="val 7463" name="adj"/>
            </a:avLst>
          </a:prstGeom>
          <a:solidFill>
            <a:srgbClr val="23272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4"/>
          <p:cNvSpPr/>
          <p:nvPr/>
        </p:nvSpPr>
        <p:spPr>
          <a:xfrm>
            <a:off x="7391400" y="2011561"/>
            <a:ext cx="3898138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A9C27A"/>
                </a:solidFill>
                <a:latin typeface="Fraunces"/>
                <a:ea typeface="Fraunces"/>
                <a:cs typeface="Fraunces"/>
                <a:sym typeface="Fraunces"/>
              </a:rPr>
              <a:t>3,77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7391400" y="2519561"/>
            <a:ext cx="3898138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nota média, de 1 a 5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7391400" y="2854821"/>
            <a:ext cx="3898138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IC de 95%: 3,76 a 3,78 (bootstrap)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7191375" y="3350716"/>
            <a:ext cx="4184650" cy="1123851"/>
          </a:xfrm>
          <a:prstGeom prst="roundRect">
            <a:avLst>
              <a:gd fmla="val 8758" name="adj"/>
            </a:avLst>
          </a:prstGeom>
          <a:solidFill>
            <a:srgbClr val="FBF9F3"/>
          </a:solidFill>
          <a:ln cap="flat" cmpd="sng" w="9525">
            <a:solidFill>
              <a:srgbClr val="D9D2C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14"/>
          <p:cNvSpPr/>
          <p:nvPr/>
        </p:nvSpPr>
        <p:spPr>
          <a:xfrm>
            <a:off x="7397750" y="3506291"/>
            <a:ext cx="3885057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23272B"/>
                </a:solidFill>
                <a:latin typeface="Fraunces"/>
                <a:ea typeface="Fraunces"/>
                <a:cs typeface="Fraunces"/>
                <a:sym typeface="Fraunces"/>
              </a:rPr>
              <a:t>Igual por sexo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7397750" y="3892352"/>
            <a:ext cx="3885057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Diferença menor que 1 ponto percentual em cada nota.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7188200" y="4604742"/>
            <a:ext cx="4191000" cy="1066701"/>
          </a:xfrm>
          <a:prstGeom prst="roundRect">
            <a:avLst>
              <a:gd fmla="val 7144" name="adj"/>
            </a:avLst>
          </a:prstGeom>
          <a:solidFill>
            <a:srgbClr val="F1E3E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4"/>
          <p:cNvSpPr/>
          <p:nvPr/>
        </p:nvSpPr>
        <p:spPr>
          <a:xfrm>
            <a:off x="7188200" y="4604742"/>
            <a:ext cx="4191000" cy="1066701"/>
          </a:xfrm>
          <a:custGeom>
            <a:rect b="b" l="l" r="r" t="t"/>
            <a:pathLst>
              <a:path extrusionOk="0" h="1066701" w="4191000">
                <a:moveTo>
                  <a:pt x="76200" y="1066701"/>
                </a:moveTo>
                <a:lnTo>
                  <a:pt x="76200" y="1066701"/>
                </a:lnTo>
                <a:cubicBezTo>
                  <a:pt x="34116" y="1066701"/>
                  <a:pt x="0" y="1032585"/>
                  <a:pt x="0" y="990501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lnTo>
                  <a:pt x="76200" y="0"/>
                </a:lnTo>
                <a:cubicBezTo>
                  <a:pt x="62172" y="0"/>
                  <a:pt x="50800" y="34116"/>
                  <a:pt x="50800" y="76200"/>
                </a:cubicBezTo>
                <a:lnTo>
                  <a:pt x="50800" y="990501"/>
                </a:lnTo>
                <a:cubicBezTo>
                  <a:pt x="50800" y="1010710"/>
                  <a:pt x="53476" y="1030092"/>
                  <a:pt x="58239" y="1044383"/>
                </a:cubicBezTo>
                <a:cubicBezTo>
                  <a:pt x="63003" y="1058673"/>
                  <a:pt x="69464" y="1066701"/>
                  <a:pt x="76200" y="1066701"/>
                </a:cubicBezTo>
                <a:close/>
              </a:path>
            </a:pathLst>
          </a:custGeom>
          <a:solidFill>
            <a:srgbClr val="8A3A4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9" name="Google Shape;319;p14"/>
          <p:cNvSpPr/>
          <p:nvPr/>
        </p:nvSpPr>
        <p:spPr>
          <a:xfrm>
            <a:off x="7442200" y="4757142"/>
            <a:ext cx="3845814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23272B"/>
              </a:buClr>
              <a:buSzPts val="1600"/>
              <a:buFont typeface="DM Sans"/>
              <a:buNone/>
            </a:pPr>
            <a:r>
              <a:rPr b="1" i="0" lang="en-US" sz="1600" u="none" cap="none" strike="noStrike">
                <a:solidFill>
                  <a:srgbClr val="23272B"/>
                </a:solidFill>
                <a:latin typeface="DM Sans"/>
                <a:ea typeface="DM Sans"/>
                <a:cs typeface="DM Sans"/>
                <a:sym typeface="DM Sans"/>
              </a:rPr>
              <a:t>Nota numérica descartada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7442200" y="5092402"/>
            <a:ext cx="3845814" cy="4520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4A5058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4A5058"/>
                </a:solidFill>
                <a:latin typeface="DM Sans"/>
                <a:ea typeface="DM Sans"/>
                <a:cs typeface="DM Sans"/>
                <a:sym typeface="DM Sans"/>
              </a:rPr>
              <a:t>O valor 68,68 se repete em quase todos os registros e não acompanha o texto.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5D636A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5D636A"/>
                </a:solidFill>
                <a:latin typeface="DM Sans"/>
                <a:ea typeface="DM Sans"/>
                <a:cs typeface="DM Sans"/>
                <a:sym typeface="DM Sans"/>
              </a:rPr>
              <a:t>12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23272B"/>
        </a:soli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5"/>
          <p:cNvSpPr/>
          <p:nvPr/>
        </p:nvSpPr>
        <p:spPr>
          <a:xfrm>
            <a:off x="812800" y="812800"/>
            <a:ext cx="10883392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1200"/>
              <a:buFont typeface="DM Sans"/>
              <a:buNone/>
            </a:pPr>
            <a:r>
              <a:rPr b="1" i="0" lang="en-US" sz="1200" u="none" cap="none" strike="noStrike">
                <a:solidFill>
                  <a:srgbClr val="A9C27A"/>
                </a:solidFill>
                <a:latin typeface="DM Sans"/>
                <a:ea typeface="DM Sans"/>
                <a:cs typeface="DM Sans"/>
                <a:sym typeface="DM Sans"/>
              </a:rPr>
              <a:t>FECHAMENTO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812800" y="1102320"/>
            <a:ext cx="10883392" cy="528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3600"/>
              <a:buFont typeface="Fraunces"/>
              <a:buNone/>
            </a:pPr>
            <a:r>
              <a:rPr b="1" i="0" lang="en-US" sz="36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O que a Parte 1 deixa pronto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5"/>
          <p:cNvSpPr/>
          <p:nvPr/>
        </p:nvSpPr>
        <p:spPr>
          <a:xfrm>
            <a:off x="812800" y="1859161"/>
            <a:ext cx="512775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A9C27A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A9C27A"/>
                </a:solidFill>
                <a:latin typeface="Fraunces"/>
                <a:ea typeface="Fraunces"/>
                <a:cs typeface="Fraunces"/>
                <a:sym typeface="Fraunces"/>
              </a:rPr>
              <a:t>Validado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" id="331" name="Google Shape;33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234682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15"/>
          <p:cNvSpPr/>
          <p:nvPr/>
        </p:nvSpPr>
        <p:spPr>
          <a:xfrm>
            <a:off x="1219200" y="2346821"/>
            <a:ext cx="470916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Amostra de 40.000 por grupo: sem viés, margem de até 1%, cobertura de 95–97%.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" id="333" name="Google Shape;33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306814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4" name="Google Shape;334;p15"/>
          <p:cNvSpPr/>
          <p:nvPr/>
        </p:nvSpPr>
        <p:spPr>
          <a:xfrm>
            <a:off x="1219200" y="3068141"/>
            <a:ext cx="470916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ESSENTIAL e PRIME são perfis estatisticamente distintos.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" id="335" name="Google Shape;33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378946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15"/>
          <p:cNvSpPr/>
          <p:nvPr/>
        </p:nvSpPr>
        <p:spPr>
          <a:xfrm>
            <a:off x="1219200" y="3789462"/>
            <a:ext cx="4709160" cy="3098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Outliers analisados por grupo e mantidos.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Check" id="337" name="Google Shape;33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2800" y="422632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38" name="Google Shape;338;p15"/>
          <p:cNvSpPr/>
          <p:nvPr/>
        </p:nvSpPr>
        <p:spPr>
          <a:xfrm>
            <a:off x="1219200" y="4226322"/>
            <a:ext cx="470916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Satisfação: 77% satisfeitos, média 3,77, igual por sexo.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6400800" y="1859161"/>
            <a:ext cx="512775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D58A96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D58A96"/>
                </a:solidFill>
                <a:latin typeface="Fraunces"/>
                <a:ea typeface="Fraunces"/>
                <a:cs typeface="Fraunces"/>
                <a:sym typeface="Fraunces"/>
              </a:rPr>
              <a:t>Atenção na Parte 2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ning" id="340" name="Google Shape;340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234682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15"/>
          <p:cNvSpPr/>
          <p:nvPr/>
        </p:nvSpPr>
        <p:spPr>
          <a:xfrm>
            <a:off x="6807200" y="2346821"/>
            <a:ext cx="470916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Dados não normais: preferir métodos que não dependam de normalidade.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ning" id="342" name="Google Shape;34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3068141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15"/>
          <p:cNvSpPr/>
          <p:nvPr/>
        </p:nvSpPr>
        <p:spPr>
          <a:xfrm>
            <a:off x="6807200" y="3068141"/>
            <a:ext cx="470916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Classes desbalanceadas: 87% homens, 67% Sudeste, 59,5% ESSENTIAL.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Warning" id="344" name="Google Shape;344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400800" y="3789462"/>
            <a:ext cx="279400" cy="27940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15"/>
          <p:cNvSpPr/>
          <p:nvPr/>
        </p:nvSpPr>
        <p:spPr>
          <a:xfrm>
            <a:off x="6807200" y="3789462"/>
            <a:ext cx="4709160" cy="594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1600"/>
              <a:buFont typeface="DM Sans"/>
              <a:buNone/>
            </a:pPr>
            <a:r>
              <a:rPr b="0" i="0" lang="en-US" sz="1600" u="none" cap="none" strike="noStrike">
                <a:solidFill>
                  <a:srgbClr val="F6F2E9"/>
                </a:solidFill>
                <a:latin typeface="DM Sans"/>
                <a:ea typeface="DM Sans"/>
                <a:cs typeface="DM Sans"/>
                <a:sym typeface="DM Sans"/>
              </a:rPr>
              <a:t>Perfil químico do vinho com ruído sintético: valores impossíveis, como prolina negativa.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812800" y="5049242"/>
            <a:ext cx="10883392" cy="36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6F2E9"/>
              </a:buClr>
              <a:buSzPts val="2200"/>
              <a:buFont typeface="Fraunces"/>
              <a:buNone/>
            </a:pPr>
            <a:r>
              <a:rPr b="1" i="0" lang="en-US" sz="2200" u="none" cap="none" strike="noStrike">
                <a:solidFill>
                  <a:srgbClr val="F6F2E9"/>
                </a:solidFill>
                <a:latin typeface="Fraunces"/>
                <a:ea typeface="Fraunces"/>
                <a:cs typeface="Fraunces"/>
                <a:sym typeface="Fraunces"/>
              </a:rPr>
              <a:t>Próximo passo: Parte 2, Machine Learning sobre amostras auditadas.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812800" y="6238280"/>
            <a:ext cx="784860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UWine · Parte 1 · Quantos dados bastam?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9417050" y="6238280"/>
            <a:ext cx="1962150" cy="23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BFC5C9"/>
              </a:buClr>
              <a:buSzPts val="1200"/>
              <a:buFont typeface="DM Sans"/>
              <a:buNone/>
            </a:pPr>
            <a:r>
              <a:rPr b="0" i="0" lang="en-US" sz="1200" u="none" cap="none" strike="noStrike">
                <a:solidFill>
                  <a:srgbClr val="BFC5C9"/>
                </a:solidFill>
                <a:latin typeface="DM Sans"/>
                <a:ea typeface="DM Sans"/>
                <a:cs typeface="DM Sans"/>
                <a:sym typeface="DM Sans"/>
              </a:rPr>
              <a:t>13 / 13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